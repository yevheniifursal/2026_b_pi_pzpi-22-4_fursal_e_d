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embeddedFontLs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Merriweather" panose="00000500000000000000" pitchFamily="2" charset="-52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2C7B7C-EE8C-425C-8289-6E794B7BAF8D}">
  <a:tblStyle styleId="{282C7B7C-EE8C-425C-8289-6E794B7BAF8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563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07335"/>
            <a:ext cx="110490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27158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МІНІСТЕРСТВО ОСВІТИ І НАУКИ УКРАЇНИ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72878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ХАРКІВСЬКИЙ НАЦІОНАЛЬНИЙ УНІВЕРСИТЕТ РАДІОЕЛЕКТРОНІКИ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2376487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ВЕБСЕРВІС ДЛЯ СОЦІАЛЬНИХ ПАРІ МІЖ ДРУЗЯМИ</a:t>
            </a:r>
            <a:r>
              <a:rPr lang="uk-UA" sz="45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862512"/>
            <a:ext cx="360699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Виконав:</a:t>
            </a:r>
            <a:endParaRPr sz="1800"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319712"/>
            <a:ext cx="3606998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студент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гр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ПЗПІ-22-4 </a:t>
            </a:r>
            <a:r>
              <a:rPr lang="uk-UA" sz="18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Фурсал</a:t>
            </a:r>
            <a:r>
              <a:rPr lang="uk-UA" sz="18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Євгеній Дмитрович</a:t>
            </a:r>
            <a:endParaRPr sz="180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312780" y="4862512"/>
            <a:ext cx="630771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Керівник</a:t>
            </a:r>
            <a:r>
              <a:rPr lang="en-US" sz="1800" b="0" i="0" u="none" strike="noStrike" cap="none" dirty="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80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5312780" y="5319712"/>
            <a:ext cx="630771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40000"/>
              </a:lnSpc>
            </a:pPr>
            <a:r>
              <a:rPr lang="ru-RU" sz="18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ст.викл</a:t>
            </a:r>
            <a:r>
              <a:rPr lang="ru-RU" sz="18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ru-RU" sz="18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кафедри</a:t>
            </a:r>
            <a:r>
              <a:rPr lang="ru-RU" sz="18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ПІ Гребенюк В. О.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0518"/>
            <a:ext cx="528637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80518"/>
            <a:ext cx="5286375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903535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Актуальність розробки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494085"/>
            <a:ext cx="4953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9810750" y="447675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157043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Відсутність спеціалізованих некомерційних рішень для фіксації дружніх спорів на вітчизняному ринку.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3042493"/>
            <a:ext cx="493061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Трансформація взаємодії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3585418"/>
            <a:ext cx="46958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Стрімка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інтеграція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цифрових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технологій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у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повсякденне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життя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зумовлює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перехід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традиційних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соціальних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взаємодій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у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віртуальний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простір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6629400" y="3042493"/>
            <a:ext cx="493061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Концепція гейміфікації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629400" y="3585418"/>
            <a:ext cx="46958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Впровадження ігрових механік у повсякденні процеси підвищує залученість користувачів та створює унікальний досвід спілкування.</a:t>
            </a:r>
            <a:endParaRPr/>
          </a:p>
        </p:txBody>
      </p:sp>
      <p:sp>
        <p:nvSpPr>
          <p:cNvPr id="4" name="Місце для номера слайда 1">
            <a:extLst>
              <a:ext uri="{FF2B5EF4-FFF2-40B4-BE49-F238E27FC236}">
                <a16:creationId xmlns:a16="http://schemas.microsoft.com/office/drawing/2014/main" id="{2D03799E-47E7-98F2-9085-EBF8C27221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913655"/>
            <a:ext cx="318039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Мета та задачі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1504205"/>
            <a:ext cx="30289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085230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Об'єкт розробки: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77103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Процес соціальної взаємодії у формі некомерційних парі.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3761630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Мета роботи: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444743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Створення веб-сервісу для фіксації та ведення дружніх спорів з розширеним функціоналом верифікації.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95325" y="532373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532373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Автоматизація укладання угод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95325" y="559043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559043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Забезпечення прозорості контролю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5325" y="585713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85713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Інтеграція елементів соціальної мережі</a:t>
            </a:r>
            <a:endParaRPr/>
          </a:p>
        </p:txBody>
      </p:sp>
      <p:sp>
        <p:nvSpPr>
          <p:cNvPr id="4" name="Місце для номера слайда 1">
            <a:extLst>
              <a:ext uri="{FF2B5EF4-FFF2-40B4-BE49-F238E27FC236}">
                <a16:creationId xmlns:a16="http://schemas.microsoft.com/office/drawing/2014/main" id="{6F2FB409-C235-AD5B-DE5C-E9F65165F4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903535"/>
            <a:ext cx="667083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Порівняльний аналіз аналогів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494085"/>
            <a:ext cx="63531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1500" y="2732930"/>
            <a:ext cx="11049000" cy="26289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16"/>
          <p:cNvGraphicFramePr/>
          <p:nvPr/>
        </p:nvGraphicFramePr>
        <p:xfrm>
          <a:off x="571500" y="2732930"/>
          <a:ext cx="11049000" cy="2628875"/>
        </p:xfrm>
        <a:graphic>
          <a:graphicData uri="http://schemas.openxmlformats.org/drawingml/2006/table">
            <a:tbl>
              <a:tblPr firstRow="1" bandRow="1">
                <a:noFill/>
                <a:tableStyleId>{282C7B7C-EE8C-425C-8289-6E794B7BAF8D}</a:tableStyleId>
              </a:tblPr>
              <a:tblGrid>
                <a:gridCol w="235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Критерій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WagerLab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Betcha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SocialBets (Проєкт)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Тип платформи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Мобільний додаток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Мобільний додаток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Веб-сервіс (PWA)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Кастомні умови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Наявні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Шаблонні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Повністю вільні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Комерціалізація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Реклама / Гроші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Вбудовані покупки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Некомерційний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Локалізація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Відсутня (EN)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Відсутня (EN)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Повна (UA)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6" name="Google Shape;136;p16"/>
          <p:cNvSpPr/>
          <p:nvPr/>
        </p:nvSpPr>
        <p:spPr>
          <a:xfrm>
            <a:off x="571500" y="3775918"/>
            <a:ext cx="235699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928491" y="3775918"/>
            <a:ext cx="2738883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667375" y="3775918"/>
            <a:ext cx="2738883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8406258" y="3775918"/>
            <a:ext cx="321424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71500" y="4299793"/>
            <a:ext cx="235699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928491" y="4299793"/>
            <a:ext cx="2738883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667375" y="4299793"/>
            <a:ext cx="2738883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406258" y="4299793"/>
            <a:ext cx="321424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4823668"/>
            <a:ext cx="235699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928491" y="4823668"/>
            <a:ext cx="2738883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667375" y="4823668"/>
            <a:ext cx="2738883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8406258" y="4823668"/>
            <a:ext cx="321424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1500" y="5347543"/>
            <a:ext cx="235699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928491" y="5347543"/>
            <a:ext cx="2738883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667375" y="5347543"/>
            <a:ext cx="2738883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406258" y="5347543"/>
            <a:ext cx="3214241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F416BC31-3184-EC79-D96A-8A089328CF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6426"/>
            <a:ext cx="3492549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06426"/>
            <a:ext cx="3492549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06426"/>
            <a:ext cx="3492549" cy="288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903535"/>
            <a:ext cx="776097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Виявлені проблеми фіксації спорів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1494085"/>
            <a:ext cx="73914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84223" y="3787526"/>
            <a:ext cx="30671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Забудькуватість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57250" y="4311401"/>
            <a:ext cx="292104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Умови усних спорів часто викривляються у пам'яті учасників з часом.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562523" y="3787526"/>
            <a:ext cx="30671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Втрата даних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635549" y="4311401"/>
            <a:ext cx="292104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Ключова інформація втрачається у загальному потоці повідомлень месенджерів.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340822" y="3787526"/>
            <a:ext cx="30671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Суб'єктивізм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413849" y="4311401"/>
            <a:ext cx="292104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Відсутність механізму об'єктивного підтвердження результату стороною, що програла.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94932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94932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6174" y="294932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C74840A0-CAA4-9F59-C70D-18C2257981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37693"/>
            <a:ext cx="528637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37693"/>
            <a:ext cx="5286375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71500" y="903535"/>
            <a:ext cx="6970871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Вимоги до програмної системи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1494085"/>
            <a:ext cx="66389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866775" y="3299668"/>
            <a:ext cx="493061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Функціональні вимоги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629400" y="3299668"/>
            <a:ext cx="493061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Нефункціональні вимоги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181100" y="3823543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247775" y="3823543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Автентифікація через Email/Пароль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181100" y="4090243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247775" y="4090243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Конструктор парі з кастомними умовами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181100" y="4356943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247775" y="4356943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Двостороння верифікація результатів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181100" y="4623643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247775" y="4623643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Соціальна стрічка та коментарі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943725" y="3823543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010400" y="3823543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Час завантаження &lt; 2 секунд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943725" y="4090243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010400" y="4090243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Адаптивність (Mobile/Desktop)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943725" y="4356943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010400" y="4356943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Безпека (Хешування паролів)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943725" y="4623643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7010400" y="4623643"/>
            <a:ext cx="4314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Кросбраузерна сумісність</a:t>
            </a:r>
            <a:endParaRPr/>
          </a:p>
        </p:txBody>
      </p:sp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17C187B5-45F8-DE9C-366B-7C58289B44B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571500" y="903535"/>
            <a:ext cx="74009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Обґрунтування стеку технологій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1494085"/>
            <a:ext cx="70485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571500" y="1960810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Backend: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Python &amp; Flask — легковаговість та гнучкість розробки.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571500" y="2684710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Frontend: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JavaScript &amp; AJAX —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забезпечення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динамічності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без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перезавантаження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3408610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Database: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SQLite — вбудована СУБД, оптимальна для некомерційного проєкту.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71500" y="4132510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IDE: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PyCharm — професійне середовище розробки.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184" y="1789097"/>
            <a:ext cx="1886213" cy="18862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454" y="3675310"/>
            <a:ext cx="2127730" cy="1861765"/>
          </a:xfrm>
          <a:prstGeom prst="rect">
            <a:avLst/>
          </a:prstGeom>
        </p:spPr>
      </p:pic>
      <p:sp>
        <p:nvSpPr>
          <p:cNvPr id="5" name="Місце для номера слайда 1">
            <a:extLst>
              <a:ext uri="{FF2B5EF4-FFF2-40B4-BE49-F238E27FC236}">
                <a16:creationId xmlns:a16="http://schemas.microsoft.com/office/drawing/2014/main" id="{0DE7AB79-F448-A9C7-1019-1712E82445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571500" y="903535"/>
            <a:ext cx="730091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Трирівнева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архітектура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системи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1494085"/>
            <a:ext cx="69532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660850" y="3978026"/>
            <a:ext cx="29082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Flask API Сервер. Обробка бізнес-правил, керування сесіями та верифікація парі.</a:t>
            </a:r>
            <a:endParaRPr/>
          </a:p>
        </p:txBody>
      </p:sp>
      <p:pic>
        <p:nvPicPr>
          <p:cNvPr id="14" name="Рисунок 13"/>
          <p:cNvPicPr/>
          <p:nvPr/>
        </p:nvPicPr>
        <p:blipFill>
          <a:blip r:embed="rId4"/>
          <a:stretch>
            <a:fillRect/>
          </a:stretch>
        </p:blipFill>
        <p:spPr>
          <a:xfrm>
            <a:off x="2946111" y="2150774"/>
            <a:ext cx="5800725" cy="4374236"/>
          </a:xfrm>
          <a:prstGeom prst="rect">
            <a:avLst/>
          </a:prstGeom>
        </p:spPr>
      </p:pic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EDB5C282-06DB-48B9-A26D-1EFA6746DB8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/>
        </p:nvSpPr>
        <p:spPr>
          <a:xfrm>
            <a:off x="6667500" y="1618505"/>
            <a:ext cx="491061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Структура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бази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даних</a:t>
            </a:r>
            <a:endParaRPr dirty="0"/>
          </a:p>
        </p:txBody>
      </p:sp>
      <p:sp>
        <p:nvSpPr>
          <p:cNvPr id="232" name="Google Shape;232;p21"/>
          <p:cNvSpPr/>
          <p:nvPr/>
        </p:nvSpPr>
        <p:spPr>
          <a:xfrm>
            <a:off x="6667500" y="2209055"/>
            <a:ext cx="46767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6667500" y="2790080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Ключові сутності: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667500" y="484748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Використання реляційних зв'язків забезпечує цілісність даних та швидкість вибірок.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981825" y="343778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048500" y="343778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Users: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статистика перемог/поразок.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981825" y="370448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048500" y="370448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Friendships: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соціальний граф користувачів.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981825" y="397118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048500" y="397118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Bets: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умови, дедлайни, голоси сторін.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981825" y="423788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7048500" y="423788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Comments: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асинхронне обговорення подій.</a:t>
            </a:r>
            <a:endParaRPr/>
          </a:p>
        </p:txBody>
      </p:sp>
      <p:pic>
        <p:nvPicPr>
          <p:cNvPr id="15" name="Рисунок 14"/>
          <p:cNvPicPr/>
          <p:nvPr/>
        </p:nvPicPr>
        <p:blipFill>
          <a:blip r:embed="rId3"/>
          <a:stretch>
            <a:fillRect/>
          </a:stretch>
        </p:blipFill>
        <p:spPr>
          <a:xfrm>
            <a:off x="633181" y="864760"/>
            <a:ext cx="4885055" cy="5412740"/>
          </a:xfrm>
          <a:prstGeom prst="rect">
            <a:avLst/>
          </a:prstGeom>
        </p:spPr>
      </p:pic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6CF617D4-BDA5-51FA-E08F-B4CEF55DE83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571500" y="903535"/>
            <a:ext cx="886110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Алгоритм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двостороннього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голосування</a:t>
            </a:r>
            <a:endParaRPr dirty="0"/>
          </a:p>
        </p:txBody>
      </p:sp>
      <p:sp>
        <p:nvSpPr>
          <p:cNvPr id="249" name="Google Shape;249;p22"/>
          <p:cNvSpPr/>
          <p:nvPr/>
        </p:nvSpPr>
        <p:spPr>
          <a:xfrm>
            <a:off x="571500" y="1494085"/>
            <a:ext cx="84391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6498287" y="2094160"/>
            <a:ext cx="555069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Логіка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підтвердження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dirty="0"/>
          </a:p>
        </p:txBody>
      </p:sp>
      <p:sp>
        <p:nvSpPr>
          <p:cNvPr id="252" name="Google Shape;252;p22"/>
          <p:cNvSpPr txBox="1"/>
          <p:nvPr/>
        </p:nvSpPr>
        <p:spPr>
          <a:xfrm>
            <a:off x="6619875" y="2579935"/>
            <a:ext cx="95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 dirty="0"/>
          </a:p>
        </p:txBody>
      </p:sp>
      <p:sp>
        <p:nvSpPr>
          <p:cNvPr id="253" name="Google Shape;253;p22"/>
          <p:cNvSpPr txBox="1"/>
          <p:nvPr/>
        </p:nvSpPr>
        <p:spPr>
          <a:xfrm>
            <a:off x="6715125" y="2579935"/>
            <a:ext cx="4905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Учасники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надсилають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голоси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(win/lose)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незалежно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один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від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одного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54" name="Google Shape;254;p22"/>
          <p:cNvSpPr txBox="1"/>
          <p:nvPr/>
        </p:nvSpPr>
        <p:spPr>
          <a:xfrm>
            <a:off x="6562725" y="3122860"/>
            <a:ext cx="152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715125" y="3122860"/>
            <a:ext cx="49053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Система порівнює результати: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436186" y="3933497"/>
            <a:ext cx="49053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3.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Транзакційна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цілісність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операцій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у БД.</a:t>
            </a:r>
            <a:endParaRPr dirty="0"/>
          </a:p>
        </p:txBody>
      </p:sp>
      <p:sp>
        <p:nvSpPr>
          <p:cNvPr id="258" name="Google Shape;258;p22"/>
          <p:cNvSpPr txBox="1"/>
          <p:nvPr/>
        </p:nvSpPr>
        <p:spPr>
          <a:xfrm>
            <a:off x="6981825" y="3380035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7096125" y="3380034"/>
            <a:ext cx="4788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Збіг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Автоматичне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нарахування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балів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закриття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60" name="Google Shape;260;p22"/>
          <p:cNvSpPr txBox="1"/>
          <p:nvPr/>
        </p:nvSpPr>
        <p:spPr>
          <a:xfrm>
            <a:off x="6981825" y="3646735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7096125" y="3643952"/>
            <a:ext cx="4524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Розбіжність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Переведення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у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статус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"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Конфлікт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".</a:t>
            </a:r>
            <a:endParaRPr dirty="0"/>
          </a:p>
        </p:txBody>
      </p:sp>
      <p:pic>
        <p:nvPicPr>
          <p:cNvPr id="17" name="Рисунок 16"/>
          <p:cNvPicPr/>
          <p:nvPr/>
        </p:nvPicPr>
        <p:blipFill>
          <a:blip r:embed="rId4"/>
          <a:stretch>
            <a:fillRect/>
          </a:stretch>
        </p:blipFill>
        <p:spPr>
          <a:xfrm>
            <a:off x="17145" y="2251322"/>
            <a:ext cx="6299835" cy="2759710"/>
          </a:xfrm>
          <a:prstGeom prst="rect">
            <a:avLst/>
          </a:prstGeom>
        </p:spPr>
      </p:pic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30CD801F-703C-6EA4-D964-0119AB2E39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571500" y="1047005"/>
            <a:ext cx="520065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UI/UX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Дизайн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та</a:t>
            </a: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інтерфейс</a:t>
            </a:r>
            <a:endParaRPr dirty="0"/>
          </a:p>
        </p:txBody>
      </p:sp>
      <p:sp>
        <p:nvSpPr>
          <p:cNvPr id="269" name="Google Shape;269;p23"/>
          <p:cNvSpPr/>
          <p:nvPr/>
        </p:nvSpPr>
        <p:spPr>
          <a:xfrm>
            <a:off x="571500" y="2132855"/>
            <a:ext cx="4953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2713880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Принципи дизайну: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71500" y="3399680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Мінімалізм та адаптивність для мобільних пристроїв. Використання темної кольорової гами для зниження навантаження на очі.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571500" y="458078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Основні екрани: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85825" y="519038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952500" y="519038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Стрічка парі компанії друзів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85825" y="545708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952500" y="545708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Інтерактивний конструктор нового парі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85825" y="5723780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952500" y="572378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Панель особистої статистики</a:t>
            </a:r>
            <a:endParaRPr/>
          </a:p>
        </p:txBody>
      </p:sp>
      <p:pic>
        <p:nvPicPr>
          <p:cNvPr id="15" name="Рисунок 14"/>
          <p:cNvPicPr/>
          <p:nvPr/>
        </p:nvPicPr>
        <p:blipFill>
          <a:blip r:embed="rId4"/>
          <a:stretch>
            <a:fillRect/>
          </a:stretch>
        </p:blipFill>
        <p:spPr>
          <a:xfrm>
            <a:off x="7235796" y="394225"/>
            <a:ext cx="4813935" cy="3224530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>
          <a:blip r:embed="rId5"/>
          <a:stretch>
            <a:fillRect/>
          </a:stretch>
        </p:blipFill>
        <p:spPr>
          <a:xfrm>
            <a:off x="5591175" y="3618755"/>
            <a:ext cx="5076825" cy="3052884"/>
          </a:xfrm>
          <a:prstGeom prst="rect">
            <a:avLst/>
          </a:prstGeom>
        </p:spPr>
      </p:pic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98C692FF-CFC1-8E2C-95D6-4C49EC9351C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52268"/>
            <a:ext cx="110490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75743"/>
            <a:ext cx="5286375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75743"/>
            <a:ext cx="5286375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571500" y="903535"/>
            <a:ext cx="733091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Програмні рішення: AJAX та Сесії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571500" y="1494085"/>
            <a:ext cx="69818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866775" y="2937718"/>
            <a:ext cx="493061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Керування сесіями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866775" y="3480643"/>
            <a:ext cx="46958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Криптографічне підписання cookies, ізоляція даних користувачів та безпечна автентифікація через Flask-Session.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629400" y="2937718"/>
            <a:ext cx="493061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Асинхронний AJAX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629400" y="3480643"/>
            <a:ext cx="46958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Використання Fetch API для модуля коментарів. Оновлення контенту без перезавантаження сторінки (UX-оптимізація).</a:t>
            </a:r>
            <a:endParaRPr/>
          </a:p>
        </p:txBody>
      </p:sp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D21C2BCA-E7DC-5306-3666-9D73219F97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20106"/>
            <a:ext cx="5286375" cy="305454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571500" y="903535"/>
            <a:ext cx="628078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Автоматизація розгортання</a:t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571500" y="1494085"/>
            <a:ext cx="59817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571500" y="2710606"/>
            <a:ext cx="52863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Розроблено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командний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сценарій</a:t>
            </a:r>
            <a:r>
              <a:rPr lang="en-US" sz="15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run.bat </a:t>
            </a:r>
            <a:r>
              <a:rPr lang="en-US" sz="150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для</a:t>
            </a:r>
            <a:r>
              <a:rPr lang="en-US" sz="150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повної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автоматизації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запуску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dirty="0"/>
          </a:p>
        </p:txBody>
      </p:sp>
      <p:pic>
        <p:nvPicPr>
          <p:cNvPr id="302" name="Google Shape;30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2558206"/>
            <a:ext cx="5210175" cy="297834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885825" y="3434506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952500" y="3434506"/>
            <a:ext cx="4905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Перевірка інтерпретатора Python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885825" y="3701206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952500" y="3701206"/>
            <a:ext cx="4905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Автоматична інсталяція залежностей (Flask)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885825" y="3967906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952500" y="3967906"/>
            <a:ext cx="4905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Ініціалізація БД демо-даними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885825" y="4234606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952500" y="4234606"/>
            <a:ext cx="4905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Асинхронний запуск сервера та браузера</a:t>
            </a:r>
            <a:endParaRPr/>
          </a:p>
        </p:txBody>
      </p:sp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84F1A9F6-AFC7-89B0-F6E0-BC1E519486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295275" y="104775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ДЯКУЮ ЗА УВАГУ!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571500" y="325755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Виконав: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571500" y="3829050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</a:pPr>
            <a:r>
              <a:rPr lang="uk-UA" sz="24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Фурсал</a:t>
            </a:r>
            <a:r>
              <a:rPr lang="uk-UA" sz="24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Євгеній Дмитрович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571500" y="4560540"/>
            <a:ext cx="11049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Харківський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національний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університет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радіоелектроніки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2026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Місце для номера слайда 1">
            <a:extLst>
              <a:ext uri="{FF2B5EF4-FFF2-40B4-BE49-F238E27FC236}">
                <a16:creationId xmlns:a16="http://schemas.microsoft.com/office/drawing/2014/main" id="{579ED172-706D-330C-526A-900572FAC8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810750" y="6199187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569</Words>
  <PresentationFormat>Широкий екран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9" baseType="lpstr">
      <vt:lpstr>Arial</vt:lpstr>
      <vt:lpstr>DM Sans</vt:lpstr>
      <vt:lpstr>Calibri</vt:lpstr>
      <vt:lpstr>Merriweather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2026-07-08T18:27:13Z</dcterms:modified>
</cp:coreProperties>
</file>